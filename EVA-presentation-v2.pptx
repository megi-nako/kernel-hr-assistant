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160030"/>
          </a:solidFill>
          <a:ln w="12700">
            <a:solidFill>
              <a:srgbClr val="160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457200"/>
            <a:ext cx="2743200" cy="2743200"/>
          </a:xfrm>
          <a:prstGeom prst="rect">
            <a:avLst/>
          </a:prstGeom>
          <a:solidFill>
            <a:srgbClr val="1A004A"/>
          </a:solidFill>
          <a:ln w="12700">
            <a:solidFill>
              <a:srgbClr val="1A0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</a:rPr>
              <a:t>ENGINEERING / </a:t>
            </a:r>
            <a:pPr indent="0" marL="0">
              <a:buNone/>
            </a:pPr>
            <a:r>
              <a:rPr lang="en-US" sz="700" spc="200" kern="0" dirty="0">
                <a:solidFill>
                  <a:srgbClr val="FFFFFF"/>
                </a:solidFill>
              </a:rPr>
              <a:t>PRESENTATION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01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66688"/>
                </a:solidFill>
              </a:rPr>
              <a:t>HACKATHON 2026 · MULTILINGUAL HR ASSISTANT · TEAM KERNEL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9999CC"/>
                </a:solidFill>
              </a:rPr>
              <a:t>Engineering Virtual Assistant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456432"/>
            <a:ext cx="27432" cy="256032"/>
          </a:xfrm>
          <a:prstGeom prst="rect">
            <a:avLst/>
          </a:prstGeom>
          <a:solidFill>
            <a:srgbClr val="E8007C"/>
          </a:solidFill>
          <a:ln w="12700">
            <a:solidFill>
              <a:srgbClr val="E800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564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8899"/>
                </a:solidFill>
              </a:rPr>
              <a:t>BUILT BY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Team </a:t>
            </a:r>
            <a:pPr indent="0" marL="0">
              <a:buNone/>
            </a:pPr>
            <a:r>
              <a:rPr lang="en-US" sz="2600" b="1" dirty="0">
                <a:solidFill>
                  <a:srgbClr val="00D4E8"/>
                </a:solidFill>
              </a:rPr>
              <a:t>Kernel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DEE"/>
                </a:solidFill>
              </a:rPr>
              <a:t>Megi Nako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4315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DEE"/>
                </a:solidFill>
              </a:rPr>
              <a:t>Agathi Drago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4315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DEE"/>
                </a:solidFill>
              </a:rPr>
              <a:t>Loerti Shahini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4315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DEE"/>
                </a:solidFill>
              </a:rPr>
              <a:t>Urim Toshi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55555"/>
                </a:solidFill>
              </a:rPr>
              <a:t>eng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0" y="64922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Software Lab · HR Chatbot Hackathon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ENGINEERING / </a:t>
            </a:r>
            <a:pPr indent="0" marL="0">
              <a:buNone/>
            </a:pPr>
            <a:r>
              <a:rPr lang="en-US" sz="700" spc="200" kern="0" dirty="0">
                <a:solidFill>
                  <a:srgbClr val="111111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02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CHAPTER 01 · HOW EVA IS BUILT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11111"/>
                </a:solidFill>
              </a:rPr>
              <a:t>System </a:t>
            </a:r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</a:rPr>
              <a:t>architecture.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12745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5394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4708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FRONTEND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Angular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Single-page app with Angular Router. Chat interface, citation panel, language badge, suggestion cards, and session sidebar — built with Angular's component architecture and reactive forms.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907792"/>
            <a:ext cx="1188720" cy="201168"/>
          </a:xfrm>
          <a:prstGeom prst="rect">
            <a:avLst/>
          </a:prstGeom>
          <a:solidFill>
            <a:srgbClr val="E6F9FD"/>
          </a:solidFill>
          <a:ln w="12700">
            <a:solidFill>
              <a:srgbClr val="E6F9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077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7A9E"/>
                </a:solidFill>
              </a:rPr>
              <a:t>Angular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56232" y="2907792"/>
            <a:ext cx="11887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29077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</a:rPr>
              <a:t>Angular Router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18104" y="2907792"/>
            <a:ext cx="11887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29077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</a:rPr>
              <a:t>Angular CLI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379976" y="2907792"/>
            <a:ext cx="11887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9976" y="29077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</a:rPr>
              <a:t>TypeScript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336792" y="1783080"/>
            <a:ext cx="5394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84708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BACKEND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73952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Spring Boot 3 · Java 17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2331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REST API with Spring Security for identity &amp; office scoping. Microsoft Graph + MSAL4J for SharePoint ingestion. Apache Tika for multi-format text extraction (PDF, PPTX, DOCX).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73952" y="2907792"/>
            <a:ext cx="1225296" cy="201168"/>
          </a:xfrm>
          <a:prstGeom prst="rect">
            <a:avLst/>
          </a:prstGeom>
          <a:solidFill>
            <a:srgbClr val="FDE8F2"/>
          </a:solidFill>
          <a:ln w="12700">
            <a:solidFill>
              <a:srgbClr val="FD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90779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005E"/>
                </a:solidFill>
              </a:rPr>
              <a:t>Spring Boot 3.3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772400" y="2907792"/>
            <a:ext cx="1225296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290779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</a:rPr>
              <a:t>Java 17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70848" y="2907792"/>
            <a:ext cx="1225296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0848" y="290779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</a:rPr>
              <a:t>Apache Tika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369296" y="2907792"/>
            <a:ext cx="1225296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69296" y="290779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</a:rPr>
              <a:t>MS Graph API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273552"/>
            <a:ext cx="11274552" cy="1645920"/>
          </a:xfrm>
          <a:prstGeom prst="rect">
            <a:avLst/>
          </a:prstGeom>
          <a:solidFill>
            <a:srgbClr val="F5F3FF"/>
          </a:solidFill>
          <a:ln w="9525">
            <a:solidFill>
              <a:srgbClr val="C8C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33756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4A3DB0"/>
                </a:solidFill>
              </a:rPr>
              <a:t>LLMs &amp; EMBEDDINGS — THE INTELLIGENCE LAYER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40080" y="35661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88888"/>
                </a:solidFill>
              </a:rPr>
              <a:t>Answer generation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00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B0"/>
                </a:solidFill>
              </a:rPr>
              <a:t>Claude Opus 4.8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926080" y="35661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88888"/>
                </a:solidFill>
              </a:rPr>
              <a:t>Language detection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9260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B0"/>
                </a:solidFill>
              </a:rPr>
              <a:t>Apache Tika langdetect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760720" y="35661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88888"/>
                </a:solidFill>
              </a:rPr>
              <a:t>Semantic embeddings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6072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B0"/>
                </a:solidFill>
              </a:rPr>
              <a:t>Voyage AI · voyage-3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412480" y="35661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88888"/>
                </a:solidFill>
              </a:rPr>
              <a:t>Vector store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B0"/>
                </a:solidFill>
              </a:rPr>
              <a:t>PostgreSQL + pgvector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424160" y="35661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88888"/>
                </a:solidFill>
              </a:rPr>
              <a:t>Infrastructure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42416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B0"/>
                </a:solidFill>
              </a:rPr>
              <a:t>Docker Compose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788920" y="3520440"/>
            <a:ext cx="0" cy="685800"/>
          </a:xfrm>
          <a:prstGeom prst="line">
            <a:avLst/>
          </a:prstGeom>
          <a:noFill/>
          <a:ln w="6350">
            <a:solidFill>
              <a:srgbClr val="CCCC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23560" y="3520440"/>
            <a:ext cx="0" cy="685800"/>
          </a:xfrm>
          <a:prstGeom prst="line">
            <a:avLst/>
          </a:prstGeom>
          <a:noFill/>
          <a:ln w="6350">
            <a:solidFill>
              <a:srgbClr val="CCCC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5320" y="3520440"/>
            <a:ext cx="0" cy="685800"/>
          </a:xfrm>
          <a:prstGeom prst="line">
            <a:avLst/>
          </a:prstGeom>
          <a:noFill/>
          <a:ln w="6350">
            <a:solidFill>
              <a:srgbClr val="CCCC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87000" y="3520440"/>
            <a:ext cx="0" cy="685800"/>
          </a:xfrm>
          <a:prstGeom prst="line">
            <a:avLst/>
          </a:prstGeom>
          <a:noFill/>
          <a:ln w="6350">
            <a:solidFill>
              <a:srgbClr val="CCCC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4922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BBBBB"/>
                </a:solidFill>
              </a:rPr>
              <a:t>eng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743200" y="64922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</a:rPr>
              <a:t>Software Lab · HR Chatbot Hackathon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ENGINEERING / </a:t>
            </a:r>
            <a:pPr indent="0" marL="0">
              <a:buNone/>
            </a:pPr>
            <a:r>
              <a:rPr lang="en-US" sz="700" spc="200" kern="0" dirty="0">
                <a:solidFill>
                  <a:srgbClr val="111111"/>
                </a:solidFill>
              </a:rPr>
              <a:t>SECURITY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03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CHAPTER 02 · DATA ISOLATION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11111"/>
                </a:solidFill>
              </a:rPr>
              <a:t>Your office. </a:t>
            </a:r>
            <a:pPr indent="0" marL="0">
              <a:buNone/>
            </a:pPr>
            <a:r>
              <a:rPr lang="en-US" sz="3800" b="1" dirty="0">
                <a:solidFill>
                  <a:srgbClr val="E8007C"/>
                </a:solidFill>
              </a:rPr>
              <a:t>Your answers only.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12745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Every authenticated user carries an office identity — either Albania or Serbia. The retrieval layer enforces a hard namespace boundary: queries are matched only against documents tagged to that user's office.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36576" cy="914400"/>
          </a:xfrm>
          <a:prstGeom prst="rect">
            <a:avLst/>
          </a:prstGeom>
          <a:solidFill>
            <a:srgbClr val="E8007C"/>
          </a:solidFill>
          <a:ln w="12700">
            <a:solidFill>
              <a:srgbClr val="E800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267712"/>
            <a:ext cx="5486400" cy="914400"/>
          </a:xfrm>
          <a:prstGeom prst="rect">
            <a:avLst/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22576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E8007C"/>
                </a:solidFill>
              </a:rPr>
              <a:t>ALBANIA OFFICE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21792" y="249631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User in Tirana asks a question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724912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Search is scoped to the ALB namespace. Albanian HR documents only. Serbian content is never retrieved, never surfaced.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36576" cy="914400"/>
          </a:xfrm>
          <a:prstGeom prst="rect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3438144"/>
            <a:ext cx="548640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93008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C6CF0"/>
                </a:solidFill>
              </a:rPr>
              <a:t>SERBIA OFFICE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1792" y="366674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User in Belgrade asks the same question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895344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Search is scoped to the SRB namespace. Serbian HR documents only. Completely independent from Albanian content.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608576"/>
            <a:ext cx="36576" cy="914400"/>
          </a:xfrm>
          <a:prstGeom prst="rect">
            <a:avLst/>
          </a:prstGeom>
          <a:solidFill>
            <a:srgbClr val="DD2222"/>
          </a:solidFill>
          <a:ln w="12700">
            <a:solidFill>
              <a:srgbClr val="DD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4608576"/>
            <a:ext cx="5486400" cy="914400"/>
          </a:xfrm>
          <a:prstGeom prst="rect">
            <a:avLst/>
          </a:prstGeom>
          <a:solidFill>
            <a:srgbClr val="FFF4F4"/>
          </a:solidFill>
          <a:ln w="12700">
            <a:solidFill>
              <a:srgbClr val="FFF4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66344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DD2222"/>
                </a:solidFill>
              </a:rPr>
              <a:t>CROSS-OFFICE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21792" y="483717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Can a Serbian user access Albanian documents?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5065776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No. The vector search filter is enforced at query time on the database level — there is no API surface to override the office scope.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1737360"/>
            <a:ext cx="5330952" cy="3657600"/>
          </a:xfrm>
          <a:prstGeom prst="rect">
            <a:avLst/>
          </a:prstGeom>
          <a:solidFill>
            <a:srgbClr val="F7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013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HOW ISOLATION IS ENFORCED — REQUEST FLOW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537960" y="2057400"/>
            <a:ext cx="237744" cy="237744"/>
          </a:xfrm>
          <a:prstGeom prst="ellipse">
            <a:avLst/>
          </a:prstGeom>
          <a:solidFill>
            <a:srgbClr val="E8007C"/>
          </a:solidFill>
          <a:ln w="12700">
            <a:solidFill>
              <a:srgbClr val="E800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066544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39712" y="20665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Spring Security resolves the authenticated user's office from their profile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56832" y="2313432"/>
            <a:ext cx="0" cy="347472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2679192"/>
            <a:ext cx="237744" cy="237744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688336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39712" y="2688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Voyage AI embeds the user's query into a 1024-dimensional vector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56832" y="2935224"/>
            <a:ext cx="0" cy="347472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3300984"/>
            <a:ext cx="237744" cy="237744"/>
          </a:xfrm>
          <a:prstGeom prst="ellipse">
            <a:avLst/>
          </a:prstGeom>
          <a:solidFill>
            <a:srgbClr val="00A8C0"/>
          </a:solidFill>
          <a:ln w="12700">
            <a:solidFill>
              <a:srgbClr val="00A8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310128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39712" y="33101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pgvector cosine search is filtered by office = 'ALB' or office = 'SRB'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56832" y="3557016"/>
            <a:ext cx="0" cy="347472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3922776"/>
            <a:ext cx="237744" cy="237744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931920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39712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Claude Opus 4.8 receives only office-scoped chunks and generates the answer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56832" y="4178808"/>
            <a:ext cx="0" cy="347472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4544568"/>
            <a:ext cx="237744" cy="237744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4553712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39712" y="45537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Audit log records every query, user, office, and cited sources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5468112"/>
            <a:ext cx="533095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55138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MULTILINGUAL RESPONSE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537960" y="56875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Detects &amp; replies in your language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37960" y="5943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Ask in English, Albanian, or Serbian. Tika detects the input language and Claude replies in kind — no configuration needed.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BBBBB"/>
                </a:solidFill>
              </a:rPr>
              <a:t>eng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43200" y="64922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</a:rPr>
              <a:t>Software Lab · HR Chatbot Hackathon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ENGINEERING / </a:t>
            </a:r>
            <a:pPr indent="0" marL="0">
              <a:buNone/>
            </a:pPr>
            <a:r>
              <a:rPr lang="en-US" sz="700" spc="200" kern="0" dirty="0">
                <a:solidFill>
                  <a:srgbClr val="111111"/>
                </a:solidFill>
              </a:rPr>
              <a:t>INGESTION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04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CHAPTER 03 · KNOWLEDGE PIPELINE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11111"/>
                </a:solidFill>
              </a:rPr>
              <a:t>From document </a:t>
            </a:r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</a:rPr>
              <a:t>to answer.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12745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20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7C"/>
                </a:solidFill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23317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SOURCE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21792" y="2514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Fetch documents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798064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Ingestion job pulls HR documents from SharePoint (Albania via MS Graph API), a ZIP archive (Serbia), or a local folder. Configurable per office via environment variable.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920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6CF0"/>
                </a:solidFill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56432" y="23317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PARSE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56432" y="2514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Extract with Tika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2798064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Apache Tika 2.9 parses PDFs, PPTX, DOCX, and plain text into clean strings. Language is detected at this stage and stored as document metadata.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920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C0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91072" y="23317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EMBED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291072" y="2514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Vectorize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91072" y="2798064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Text chunks are sent to Voyage AI voyage-3 for 1024-dimension semantic embeddings. Each vector is tagged with office, source filename, and language.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61120" y="1828800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5712" y="1920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4444"/>
                </a:solidFill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25712" y="23317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</a:rPr>
              <a:t>PERSIST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125712" y="2514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Store in PostgreSQL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25712" y="2798064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Embeddings land in a pgvector-enabled PostgreSQL instance running in Docker. Cosine similarity search at query time — no external search engine needed.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36976" y="3017520"/>
            <a:ext cx="14630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1616" y="3017520"/>
            <a:ext cx="14630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06256" y="3017520"/>
            <a:ext cx="14630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70832"/>
            <a:ext cx="11274552" cy="1417320"/>
          </a:xfrm>
          <a:prstGeom prst="rect">
            <a:avLst/>
          </a:prstGeom>
          <a:solidFill>
            <a:srgbClr val="F0EEFF"/>
          </a:solidFill>
          <a:ln w="9525">
            <a:solidFill>
              <a:srgbClr val="C8C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4348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4A3DB0"/>
                </a:solidFill>
              </a:rPr>
              <a:t>CHAT HISTORY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0080" y="46085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Persistent conversation context — per session, per user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892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Every message exchange is persisted to PostgreSQL, keyed by session ID and user. When the next message arrives, recent history is injected into the Claude prompt as context — enabling follow-up questions, pronoun resolution, and coherent multi-turn conversations without repeating information.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18120" y="4544568"/>
            <a:ext cx="91440" cy="9144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4480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Continuity —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"What about the Serbia version?" works across turns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818120" y="4956048"/>
            <a:ext cx="91440" cy="9144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4892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Faster UX —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Context cached in DB, no re-fetch from SharePoint per turn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818120" y="5367528"/>
            <a:ext cx="91440" cy="9144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5303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Auditability —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Full conversation trail for compliance review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BBBBB"/>
                </a:solidFill>
              </a:rPr>
              <a:t>eng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43200" y="64922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</a:rPr>
              <a:t>Software Lab · HR Chatbot Hackathon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3657600"/>
          </a:xfrm>
          <a:prstGeom prst="rect">
            <a:avLst/>
          </a:prstGeom>
          <a:solidFill>
            <a:srgbClr val="001530"/>
          </a:solidFill>
          <a:ln w="12700">
            <a:solidFill>
              <a:srgbClr val="00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2743200" cy="2286000"/>
          </a:xfrm>
          <a:prstGeom prst="rect">
            <a:avLst/>
          </a:prstGeom>
          <a:solidFill>
            <a:srgbClr val="1A0020"/>
          </a:solidFill>
          <a:ln w="12700">
            <a:solidFill>
              <a:srgbClr val="1A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</a:rPr>
              <a:t>ENGINEERING / </a:t>
            </a:r>
            <a:pPr indent="0" marL="0">
              <a:buNone/>
            </a:pPr>
            <a:r>
              <a:rPr lang="en-US" sz="700" spc="200" kern="0" dirty="0">
                <a:solidFill>
                  <a:srgbClr val="FFFFFF"/>
                </a:solidFill>
              </a:rPr>
              <a:t>HIGHLIGHTS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05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5577"/>
                </a:solidFill>
              </a:rPr>
              <a:t>CHAPTER 04 · WHAT SETS EVA APART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What makes </a:t>
            </a:r>
            <a:pPr indent="0" marL="0">
              <a:buNone/>
            </a:pPr>
            <a:r>
              <a:rPr lang="en-US" sz="3800" b="1" dirty="0">
                <a:solidFill>
                  <a:srgbClr val="00D4E8"/>
                </a:solidFill>
              </a:rPr>
              <a:t>EVA </a:t>
            </a:r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stand out.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3657600" cy="2103120"/>
          </a:xfrm>
          <a:prstGeom prst="rect">
            <a:avLst/>
          </a:prstGeom>
          <a:solidFill>
            <a:srgbClr val="0F0025"/>
          </a:solidFill>
          <a:ln w="6350">
            <a:solidFill>
              <a:srgbClr val="2A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751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66688"/>
                </a:solidFill>
              </a:rPr>
              <a:t>INTELLIGENCE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2157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Opus 4.8 as the brain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The most capable Claude model drives every answer. Tool-use agent architecture with configurable scope threshold ensures the LLM only answers when retrieval confidence is high enough.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15968" y="1810512"/>
            <a:ext cx="3657600" cy="2103120"/>
          </a:xfrm>
          <a:prstGeom prst="rect">
            <a:avLst/>
          </a:prstGeom>
          <a:solidFill>
            <a:srgbClr val="0F0025"/>
          </a:solidFill>
          <a:ln w="6350">
            <a:solidFill>
              <a:srgbClr val="2A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9751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66688"/>
                </a:solidFill>
              </a:rPr>
              <a:t>SECURITY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498848" y="2157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 office isolation at DB level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8848" y="2615184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Cross-office data leakage is structurally impossible. The pgvector WHERE clause filter is enforced server-side, below the application layer — not just hidden in the UI.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74736" y="1810512"/>
            <a:ext cx="3657600" cy="2103120"/>
          </a:xfrm>
          <a:prstGeom prst="rect">
            <a:avLst/>
          </a:prstGeom>
          <a:solidFill>
            <a:srgbClr val="0F0025"/>
          </a:solidFill>
          <a:ln w="6350">
            <a:solidFill>
              <a:srgbClr val="2A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19751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66688"/>
                </a:solidFill>
              </a:rPr>
              <a:t>RETRIEVAL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357616" y="2157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Voyage AI semantic 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57616" y="2615184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voyage-3 embeddings outperform generic models on multilingual domain text. Semantic similarity means users get correct answers even when phrasing doesn't match document keywords.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078224"/>
            <a:ext cx="3657600" cy="2103120"/>
          </a:xfrm>
          <a:prstGeom prst="rect">
            <a:avLst/>
          </a:prstGeom>
          <a:solidFill>
            <a:srgbClr val="0F0025"/>
          </a:solidFill>
          <a:ln w="6350">
            <a:solidFill>
              <a:srgbClr val="2A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4281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66688"/>
                </a:solidFill>
              </a:rPr>
              <a:t>PIPELINE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0080" y="44256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Flexible ingestion sources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882896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One ingestion runner handles SharePoint, ZIP, and local folders — configurable per office. Adding a new office or document source requires a single environment variable change.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15968" y="4078224"/>
            <a:ext cx="3657600" cy="2103120"/>
          </a:xfrm>
          <a:prstGeom prst="rect">
            <a:avLst/>
          </a:prstGeom>
          <a:solidFill>
            <a:srgbClr val="0F0025"/>
          </a:solidFill>
          <a:ln w="6350">
            <a:solidFill>
              <a:srgbClr val="2A2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424281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66688"/>
                </a:solidFill>
              </a:rPr>
              <a:t>MULTILINGUAL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498848" y="44256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 · SQ · SR — detect &amp; reply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98848" y="4882896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Language detection at both ingestion time (Tika) and query time. The LLM receives language context in its system prompt and responds in the user's own language.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74736" y="4078224"/>
            <a:ext cx="3657600" cy="2103120"/>
          </a:xfrm>
          <a:prstGeom prst="rect">
            <a:avLst/>
          </a:prstGeom>
          <a:solidFill>
            <a:srgbClr val="0F0025"/>
          </a:solidFill>
          <a:ln w="6350">
            <a:solidFill>
              <a:srgbClr val="2A2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7616" y="424281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66688"/>
                </a:solidFill>
              </a:rPr>
              <a:t>PROD-READY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57616" y="44256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 log + Docker + Spring Security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57616" y="4882896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Every query, user, office, and cited source is logged. Full Docker Compose setup means zero-friction deployment. Spring Security provides a real auth layer ready for SSO.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55555"/>
                </a:solidFill>
              </a:rPr>
              <a:t>eng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743200" y="64922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Software Lab · HR Chatbot Hackathon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2026-06-18T22:30:00Z</dcterms:created>
  <dcterms:modified xsi:type="dcterms:W3CDTF">2026-06-18T22:30:00Z</dcterms:modified>
</cp:coreProperties>
</file>